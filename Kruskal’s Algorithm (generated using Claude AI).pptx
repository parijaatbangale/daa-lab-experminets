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460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talk we cover what a minimum spanning tree is, how Kruskal’s algorithm builds one, the Union-Find structure that makes it fast, a worked example, and its complexity and uses.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spanning tree touches every vertex using the fewest edges, V minus 1, with no cycles. The minimum spanning tree is the one whose total edge weight is smallest. Think of connecting towns with roads at the least cost.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Kruskal’s is greedy: always consider the cheapest remaining edge. Sorting makes that easy. The only real question at each step is whether the edge joins two different trees, which is where Union-Find comes in. If the endpoints are already connected, the edge would create a cycle, so we skip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vertex starts as its own set. find returns the representative root of a vertex’s set. If find(u) equals find(v), adding edge u-v would form a cycle. union merges two sets when we accept an edge. With path compression and union by rank, the amortized cost per operation is the inverse Ackermann function, effectively constant.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Edges sorted by weight: A-B 1, B-C 2, A-C 3, C-D 4, B-D 5, D-E 6, C-E 7. We add A-B and B-C. A-C would connect two vertices already in the same tree, so it is skipped. C-D and D-E are added, giving four edges for five vertices. The remaining edges are skipped. Total weight is 13.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costs E log E. The Union-Find work is almost linear. The proof of correctness rests on the cut property: the cheapest edge crossing any cut is safe to include. When two edges have equal weight, the tree may differ, but its total weight is always the same.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Kruskal’s is a clean example of a greedy algorithm that is provably optimal. It is widely used wherever you need to connect things cheaply, and it is also a building block for clustering. Remember the recipe: sort, check with Union-Find, add if safe, stop at V minus 1 edges.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pic>
        <p:nvPicPr>
          <p:cNvPr id="2" name="Image 0" descr="A small graph with a highlighted spanning tree in amber and unused edges dashed"/>
          <p:cNvPicPr>
            <a:picLocks noChangeAspect="1"/>
          </p:cNvPicPr>
          <p:nvPr/>
        </p:nvPicPr>
        <p:blipFill>
          <a:blip r:embed="rId3"/>
          <a:srcRect/>
          <a:stretch/>
        </p:blipFill>
        <p:spPr>
          <a:xfrm>
            <a:off x="7112000" y="1397000"/>
            <a:ext cx="4064000" cy="4064000"/>
          </a:xfrm>
          <a:prstGeom prst="rect">
            <a:avLst/>
          </a:prstGeom>
        </p:spPr>
      </p:pic>
      <p:sp>
        <p:nvSpPr>
          <p:cNvPr id="3" name="Text 0"/>
          <p:cNvSpPr/>
          <p:nvPr/>
        </p:nvSpPr>
        <p:spPr>
          <a:xfrm>
            <a:off x="812800" y="155448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2A541"/>
                </a:solidFill>
                <a:latin typeface="DM Sans" pitchFamily="34" charset="0"/>
                <a:ea typeface="DM Sans" pitchFamily="34" charset="-122"/>
                <a:cs typeface="DM Sans" pitchFamily="34" charset="-120"/>
              </a:rPr>
              <a:t>GRAPH ALGORITHMS · GREEDY METHOD</a:t>
            </a:r>
            <a:endParaRPr lang="en-US" sz="1400" dirty="0"/>
          </a:p>
        </p:txBody>
      </p:sp>
      <p:sp>
        <p:nvSpPr>
          <p:cNvPr id="4" name="Text 1"/>
          <p:cNvSpPr>
            <a:spLocks noGrp="1"/>
          </p:cNvSpPr>
          <p:nvPr>
            <p:ph type="title"/>
          </p:nvPr>
        </p:nvSpPr>
        <p:spPr>
          <a:xfrm>
            <a:off x="812800" y="2006600"/>
            <a:ext cx="10883392" cy="1945640"/>
          </a:xfrm>
          <a:prstGeom prst="rect">
            <a:avLst/>
          </a:prstGeom>
          <a:noFill/>
          <a:ln/>
        </p:spPr>
        <p:txBody>
          <a:bodyPr wrap="square" lIns="0" tIns="0" rIns="0" bIns="0" rtlCol="0" anchor="t">
            <a:normAutofit/>
          </a:bodyPr>
          <a:lstStyle/>
          <a:p>
            <a:pPr marL="0" indent="0" algn="l">
              <a:lnSpc>
                <a:spcPts val="7560"/>
              </a:lnSpc>
              <a:buNone/>
            </a:pPr>
            <a:r>
              <a:rPr lang="en-US" sz="7200" b="1" i="0" dirty="0">
                <a:solidFill>
                  <a:srgbClr val="FBFBF8"/>
                </a:solidFill>
                <a:latin typeface="DM Sans" pitchFamily="34" charset="0"/>
                <a:ea typeface="DM Sans" pitchFamily="34" charset="-122"/>
                <a:cs typeface="DM Sans" pitchFamily="34" charset="-120"/>
              </a:rPr>
              <a:t>Kruskal’s</a:t>
            </a:r>
            <a:endParaRPr lang="en-US" sz="7200" dirty="0"/>
          </a:p>
          <a:p>
            <a:pPr marL="0" indent="0" algn="l">
              <a:lnSpc>
                <a:spcPts val="7560"/>
              </a:lnSpc>
              <a:buNone/>
            </a:pPr>
            <a:r>
              <a:rPr lang="en-US" sz="7200" b="1" i="0" dirty="0">
                <a:solidFill>
                  <a:srgbClr val="FBFBF8"/>
                </a:solidFill>
                <a:latin typeface="DM Sans" pitchFamily="34" charset="0"/>
                <a:ea typeface="DM Sans" pitchFamily="34" charset="-122"/>
                <a:cs typeface="DM Sans" pitchFamily="34" charset="-120"/>
              </a:rPr>
              <a:t>Algorithm</a:t>
            </a:r>
            <a:endParaRPr lang="en-US" sz="7200" dirty="0"/>
          </a:p>
        </p:txBody>
      </p:sp>
      <p:sp>
        <p:nvSpPr>
          <p:cNvPr id="5" name="Text 2"/>
          <p:cNvSpPr/>
          <p:nvPr/>
        </p:nvSpPr>
        <p:spPr>
          <a:xfrm>
            <a:off x="812800" y="4130040"/>
            <a:ext cx="5624830" cy="119888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C9D1E3"/>
                </a:solidFill>
                <a:latin typeface="DM Sans" pitchFamily="34" charset="0"/>
                <a:ea typeface="DM Sans" pitchFamily="34" charset="-122"/>
                <a:cs typeface="DM Sans" pitchFamily="34" charset="-120"/>
              </a:rPr>
              <a:t>Building a minimum spanning tree by adding the cheapest edge that is safe, one edge at a time.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What is a minimum spanning tree?</a:t>
            </a:r>
            <a:endParaRPr lang="en-US" sz="3600" dirty="0"/>
          </a:p>
        </p:txBody>
      </p:sp>
      <p:sp>
        <p:nvSpPr>
          <p:cNvPr id="3" name="Text 1"/>
          <p:cNvSpPr/>
          <p:nvPr/>
        </p:nvSpPr>
        <p:spPr>
          <a:xfrm>
            <a:off x="812800" y="1569720"/>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DM Sans" pitchFamily="34" charset="0"/>
                <a:ea typeface="DM Sans" pitchFamily="34" charset="-122"/>
                <a:cs typeface="DM Sans" pitchFamily="34" charset="-120"/>
              </a:rPr>
              <a:t>Given a connected, weighted, undirected graph, a spanning tree is a subset of its edges that links every vertex without forming a cycle.</a:t>
            </a:r>
            <a:endParaRPr lang="en-US" sz="1600" dirty="0"/>
          </a:p>
        </p:txBody>
      </p:sp>
      <p:sp>
        <p:nvSpPr>
          <p:cNvPr id="4" name="Shape 2"/>
          <p:cNvSpPr/>
          <p:nvPr/>
        </p:nvSpPr>
        <p:spPr>
          <a:xfrm>
            <a:off x="812800" y="2392680"/>
            <a:ext cx="3386614" cy="1798320"/>
          </a:xfrm>
          <a:prstGeom prst="roundRect">
            <a:avLst>
              <a:gd name="adj" fmla="val 5650"/>
            </a:avLst>
          </a:prstGeom>
          <a:solidFill>
            <a:srgbClr val="F1EFE8"/>
          </a:solidFill>
          <a:ln/>
        </p:spPr>
      </p:sp>
      <p:sp>
        <p:nvSpPr>
          <p:cNvPr id="5" name="Text 3"/>
          <p:cNvSpPr/>
          <p:nvPr/>
        </p:nvSpPr>
        <p:spPr>
          <a:xfrm>
            <a:off x="1066800" y="2646680"/>
            <a:ext cx="2964972"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7707A"/>
                </a:solidFill>
                <a:latin typeface="DM Sans" pitchFamily="34" charset="0"/>
                <a:ea typeface="DM Sans" pitchFamily="34" charset="-122"/>
                <a:cs typeface="DM Sans" pitchFamily="34" charset="-120"/>
              </a:rPr>
              <a:t>Spanning</a:t>
            </a:r>
            <a:endParaRPr lang="en-US" sz="2200" dirty="0"/>
          </a:p>
        </p:txBody>
      </p:sp>
      <p:sp>
        <p:nvSpPr>
          <p:cNvPr id="6" name="Text 4"/>
          <p:cNvSpPr/>
          <p:nvPr/>
        </p:nvSpPr>
        <p:spPr>
          <a:xfrm>
            <a:off x="1066800" y="3083560"/>
            <a:ext cx="296497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DM Sans" pitchFamily="34" charset="0"/>
                <a:ea typeface="DM Sans" pitchFamily="34" charset="-122"/>
                <a:cs typeface="DM Sans" pitchFamily="34" charset="-120"/>
              </a:rPr>
              <a:t>Reaches every vertex, so the whole graph stays connected.</a:t>
            </a:r>
            <a:endParaRPr lang="en-US" sz="1600" dirty="0"/>
          </a:p>
        </p:txBody>
      </p:sp>
      <p:sp>
        <p:nvSpPr>
          <p:cNvPr id="7" name="Shape 5"/>
          <p:cNvSpPr/>
          <p:nvPr/>
        </p:nvSpPr>
        <p:spPr>
          <a:xfrm>
            <a:off x="4402614" y="2392680"/>
            <a:ext cx="3386693" cy="1798320"/>
          </a:xfrm>
          <a:prstGeom prst="roundRect">
            <a:avLst>
              <a:gd name="adj" fmla="val 5650"/>
            </a:avLst>
          </a:prstGeom>
          <a:solidFill>
            <a:srgbClr val="F1EFE8"/>
          </a:solidFill>
          <a:ln/>
        </p:spPr>
      </p:sp>
      <p:sp>
        <p:nvSpPr>
          <p:cNvPr id="8" name="Text 6"/>
          <p:cNvSpPr/>
          <p:nvPr/>
        </p:nvSpPr>
        <p:spPr>
          <a:xfrm>
            <a:off x="4656614" y="2646680"/>
            <a:ext cx="296505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7707A"/>
                </a:solidFill>
                <a:latin typeface="DM Sans" pitchFamily="34" charset="0"/>
                <a:ea typeface="DM Sans" pitchFamily="34" charset="-122"/>
                <a:cs typeface="DM Sans" pitchFamily="34" charset="-120"/>
              </a:rPr>
              <a:t>Tree</a:t>
            </a:r>
            <a:endParaRPr lang="en-US" sz="2200" dirty="0"/>
          </a:p>
        </p:txBody>
      </p:sp>
      <p:sp>
        <p:nvSpPr>
          <p:cNvPr id="9" name="Text 7"/>
          <p:cNvSpPr/>
          <p:nvPr/>
        </p:nvSpPr>
        <p:spPr>
          <a:xfrm>
            <a:off x="4656614" y="3083560"/>
            <a:ext cx="2965054"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DM Sans" pitchFamily="34" charset="0"/>
                <a:ea typeface="DM Sans" pitchFamily="34" charset="-122"/>
                <a:cs typeface="DM Sans" pitchFamily="34" charset="-120"/>
              </a:rPr>
              <a:t>Contains no cycles, so it has exactly V − 1 edges for V vertices.</a:t>
            </a:r>
            <a:endParaRPr lang="en-US" sz="1600" dirty="0"/>
          </a:p>
        </p:txBody>
      </p:sp>
      <p:sp>
        <p:nvSpPr>
          <p:cNvPr id="10" name="Shape 8"/>
          <p:cNvSpPr/>
          <p:nvPr/>
        </p:nvSpPr>
        <p:spPr>
          <a:xfrm>
            <a:off x="7992507" y="2392680"/>
            <a:ext cx="3386693" cy="1798320"/>
          </a:xfrm>
          <a:prstGeom prst="roundRect">
            <a:avLst>
              <a:gd name="adj" fmla="val 5650"/>
            </a:avLst>
          </a:prstGeom>
          <a:solidFill>
            <a:srgbClr val="F1EFE8"/>
          </a:solidFill>
          <a:ln/>
        </p:spPr>
      </p:sp>
      <p:sp>
        <p:nvSpPr>
          <p:cNvPr id="11" name="Text 9"/>
          <p:cNvSpPr/>
          <p:nvPr/>
        </p:nvSpPr>
        <p:spPr>
          <a:xfrm>
            <a:off x="8246507" y="2646680"/>
            <a:ext cx="296505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7707A"/>
                </a:solidFill>
                <a:latin typeface="DM Sans" pitchFamily="34" charset="0"/>
                <a:ea typeface="DM Sans" pitchFamily="34" charset="-122"/>
                <a:cs typeface="DM Sans" pitchFamily="34" charset="-120"/>
              </a:rPr>
              <a:t>Minimum</a:t>
            </a:r>
            <a:endParaRPr lang="en-US" sz="2200" dirty="0"/>
          </a:p>
        </p:txBody>
      </p:sp>
      <p:sp>
        <p:nvSpPr>
          <p:cNvPr id="12" name="Text 10"/>
          <p:cNvSpPr/>
          <p:nvPr/>
        </p:nvSpPr>
        <p:spPr>
          <a:xfrm>
            <a:off x="8246507" y="3083560"/>
            <a:ext cx="2965054"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DM Sans" pitchFamily="34" charset="0"/>
                <a:ea typeface="DM Sans" pitchFamily="34" charset="-122"/>
                <a:cs typeface="DM Sans" pitchFamily="34" charset="-120"/>
              </a:rPr>
              <a:t>Among all spanning trees, its edge weights add up to the smallest total.</a:t>
            </a:r>
            <a:endParaRPr lang="en-US" sz="1600" dirty="0"/>
          </a:p>
        </p:txBody>
      </p:sp>
      <p:sp>
        <p:nvSpPr>
          <p:cNvPr id="13" name="Text 11"/>
          <p:cNvSpPr/>
          <p:nvPr/>
        </p:nvSpPr>
        <p:spPr>
          <a:xfrm>
            <a:off x="812800" y="4445000"/>
            <a:ext cx="10566400" cy="1262380"/>
          </a:xfrm>
          <a:prstGeom prst="roundRect">
            <a:avLst>
              <a:gd name="adj" fmla="val 8048"/>
            </a:avLst>
          </a:prstGeom>
          <a:solidFill>
            <a:srgbClr val="14213D"/>
          </a:solidFill>
          <a:ln/>
        </p:spPr>
        <p:txBody>
          <a:bodyPr wrap="square" lIns="224242" tIns="224242" rIns="0" bIns="198842" rtlCol="0" anchor="t">
            <a:normAutofit/>
          </a:bodyPr>
          <a:lstStyle/>
          <a:p>
            <a:pPr marL="0" indent="0" algn="l">
              <a:lnSpc>
                <a:spcPts val="2970"/>
              </a:lnSpc>
              <a:buNone/>
            </a:pPr>
            <a:r>
              <a:rPr lang="en-US" sz="2200" dirty="0">
                <a:solidFill>
                  <a:srgbClr val="FBFBF8"/>
                </a:solidFill>
                <a:latin typeface="DM Sans" pitchFamily="34" charset="0"/>
                <a:ea typeface="DM Sans" pitchFamily="34" charset="-122"/>
                <a:cs typeface="DM Sans" pitchFamily="34" charset="-120"/>
              </a:rPr>
              <a:t>Kruskal’s goal: pick V − 1 edges that connect everything at the lowest possible total weight.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The algorithm, step by step</a:t>
            </a:r>
            <a:endParaRPr lang="en-US" sz="3600" dirty="0"/>
          </a:p>
        </p:txBody>
      </p:sp>
      <p:sp>
        <p:nvSpPr>
          <p:cNvPr id="3" name="Text 1"/>
          <p:cNvSpPr/>
          <p:nvPr/>
        </p:nvSpPr>
        <p:spPr>
          <a:xfrm>
            <a:off x="812800" y="1620520"/>
            <a:ext cx="457200" cy="457200"/>
          </a:xfrm>
          <a:prstGeom prst="roundRect">
            <a:avLst>
              <a:gd name="adj" fmla="val 50000"/>
            </a:avLst>
          </a:prstGeom>
          <a:solidFill>
            <a:srgbClr val="F2A541"/>
          </a:solidFill>
          <a:ln/>
        </p:spPr>
        <p:txBody>
          <a:bodyPr wrap="square" lIns="0" tIns="0" rIns="0" bIns="0" rtlCol="0" anchor="ctr">
            <a:normAutofit/>
          </a:bodyPr>
          <a:lstStyle/>
          <a:p>
            <a:pPr marL="0" indent="0" algn="ctr">
              <a:lnSpc>
                <a:spcPts val="2520"/>
              </a:lnSpc>
              <a:buNone/>
            </a:pPr>
            <a:r>
              <a:rPr lang="en-US" sz="1800" b="1" dirty="0">
                <a:solidFill>
                  <a:srgbClr val="14213D"/>
                </a:solidFill>
                <a:latin typeface="DM Sans" pitchFamily="34" charset="0"/>
                <a:ea typeface="DM Sans" pitchFamily="34" charset="-122"/>
                <a:cs typeface="DM Sans" pitchFamily="34" charset="-120"/>
              </a:rPr>
              <a:t>1</a:t>
            </a:r>
            <a:endParaRPr lang="en-US" sz="1800" dirty="0"/>
          </a:p>
        </p:txBody>
      </p:sp>
      <p:sp>
        <p:nvSpPr>
          <p:cNvPr id="4" name="Text 2"/>
          <p:cNvSpPr/>
          <p:nvPr/>
        </p:nvSpPr>
        <p:spPr>
          <a:xfrm>
            <a:off x="1422400" y="1706880"/>
            <a:ext cx="486613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DM Sans" pitchFamily="34" charset="0"/>
                <a:ea typeface="DM Sans" pitchFamily="34" charset="-122"/>
                <a:cs typeface="DM Sans" pitchFamily="34" charset="-120"/>
              </a:rPr>
              <a:t>Sort all edges by weight, smallest first.</a:t>
            </a:r>
            <a:endParaRPr lang="en-US" sz="1600" dirty="0"/>
          </a:p>
        </p:txBody>
      </p:sp>
      <p:sp>
        <p:nvSpPr>
          <p:cNvPr id="5" name="Text 3"/>
          <p:cNvSpPr/>
          <p:nvPr/>
        </p:nvSpPr>
        <p:spPr>
          <a:xfrm>
            <a:off x="812800" y="2311400"/>
            <a:ext cx="457200" cy="457200"/>
          </a:xfrm>
          <a:prstGeom prst="roundRect">
            <a:avLst>
              <a:gd name="adj" fmla="val 50000"/>
            </a:avLst>
          </a:prstGeom>
          <a:solidFill>
            <a:srgbClr val="F2A541"/>
          </a:solidFill>
          <a:ln/>
        </p:spPr>
        <p:txBody>
          <a:bodyPr wrap="square" lIns="0" tIns="0" rIns="0" bIns="0" rtlCol="0" anchor="ctr">
            <a:normAutofit/>
          </a:bodyPr>
          <a:lstStyle/>
          <a:p>
            <a:pPr marL="0" indent="0" algn="ctr">
              <a:lnSpc>
                <a:spcPts val="2520"/>
              </a:lnSpc>
              <a:buNone/>
            </a:pPr>
            <a:r>
              <a:rPr lang="en-US" sz="1800" b="1" dirty="0">
                <a:solidFill>
                  <a:srgbClr val="14213D"/>
                </a:solidFill>
                <a:latin typeface="DM Sans" pitchFamily="34" charset="0"/>
                <a:ea typeface="DM Sans" pitchFamily="34" charset="-122"/>
                <a:cs typeface="DM Sans" pitchFamily="34" charset="-120"/>
              </a:rPr>
              <a:t>2</a:t>
            </a:r>
            <a:endParaRPr lang="en-US" sz="1800" dirty="0"/>
          </a:p>
        </p:txBody>
      </p:sp>
      <p:sp>
        <p:nvSpPr>
          <p:cNvPr id="6" name="Text 4"/>
          <p:cNvSpPr/>
          <p:nvPr/>
        </p:nvSpPr>
        <p:spPr>
          <a:xfrm>
            <a:off x="1422400" y="2255520"/>
            <a:ext cx="486613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DM Sans" pitchFamily="34" charset="0"/>
                <a:ea typeface="DM Sans" pitchFamily="34" charset="-122"/>
                <a:cs typeface="DM Sans" pitchFamily="34" charset="-120"/>
              </a:rPr>
              <a:t>Start with a forest in which every vertex is its own tree.</a:t>
            </a:r>
            <a:endParaRPr lang="en-US" sz="1600" dirty="0"/>
          </a:p>
        </p:txBody>
      </p:sp>
      <p:sp>
        <p:nvSpPr>
          <p:cNvPr id="7" name="Text 5"/>
          <p:cNvSpPr/>
          <p:nvPr/>
        </p:nvSpPr>
        <p:spPr>
          <a:xfrm>
            <a:off x="812800" y="3200400"/>
            <a:ext cx="457200" cy="457200"/>
          </a:xfrm>
          <a:prstGeom prst="roundRect">
            <a:avLst>
              <a:gd name="adj" fmla="val 50000"/>
            </a:avLst>
          </a:prstGeom>
          <a:solidFill>
            <a:srgbClr val="F2A541"/>
          </a:solidFill>
          <a:ln/>
        </p:spPr>
        <p:txBody>
          <a:bodyPr wrap="square" lIns="0" tIns="0" rIns="0" bIns="0" rtlCol="0" anchor="ctr">
            <a:normAutofit/>
          </a:bodyPr>
          <a:lstStyle/>
          <a:p>
            <a:pPr marL="0" indent="0" algn="ctr">
              <a:lnSpc>
                <a:spcPts val="2520"/>
              </a:lnSpc>
              <a:buNone/>
            </a:pPr>
            <a:r>
              <a:rPr lang="en-US" sz="1800" b="1" dirty="0">
                <a:solidFill>
                  <a:srgbClr val="14213D"/>
                </a:solidFill>
                <a:latin typeface="DM Sans" pitchFamily="34" charset="0"/>
                <a:ea typeface="DM Sans" pitchFamily="34" charset="-122"/>
                <a:cs typeface="DM Sans" pitchFamily="34" charset="-120"/>
              </a:rPr>
              <a:t>3</a:t>
            </a:r>
            <a:endParaRPr lang="en-US" sz="1800" dirty="0"/>
          </a:p>
        </p:txBody>
      </p:sp>
      <p:sp>
        <p:nvSpPr>
          <p:cNvPr id="8" name="Text 6"/>
          <p:cNvSpPr/>
          <p:nvPr/>
        </p:nvSpPr>
        <p:spPr>
          <a:xfrm>
            <a:off x="1422400" y="3002280"/>
            <a:ext cx="4866132"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DM Sans" pitchFamily="34" charset="0"/>
                <a:ea typeface="DM Sans" pitchFamily="34" charset="-122"/>
                <a:cs typeface="DM Sans" pitchFamily="34" charset="-120"/>
              </a:rPr>
              <a:t>Take the next edge. If its endpoints lie in different trees, add it. Otherwise skip it, since it would close a cycle.</a:t>
            </a:r>
            <a:endParaRPr lang="en-US" sz="1600" dirty="0"/>
          </a:p>
        </p:txBody>
      </p:sp>
      <p:sp>
        <p:nvSpPr>
          <p:cNvPr id="9" name="Text 7"/>
          <p:cNvSpPr/>
          <p:nvPr/>
        </p:nvSpPr>
        <p:spPr>
          <a:xfrm>
            <a:off x="812800" y="4089400"/>
            <a:ext cx="457200" cy="457200"/>
          </a:xfrm>
          <a:prstGeom prst="roundRect">
            <a:avLst>
              <a:gd name="adj" fmla="val 50000"/>
            </a:avLst>
          </a:prstGeom>
          <a:solidFill>
            <a:srgbClr val="F2A541"/>
          </a:solidFill>
          <a:ln/>
        </p:spPr>
        <p:txBody>
          <a:bodyPr wrap="square" lIns="0" tIns="0" rIns="0" bIns="0" rtlCol="0" anchor="ctr">
            <a:normAutofit/>
          </a:bodyPr>
          <a:lstStyle/>
          <a:p>
            <a:pPr marL="0" indent="0" algn="ctr">
              <a:lnSpc>
                <a:spcPts val="2520"/>
              </a:lnSpc>
              <a:buNone/>
            </a:pPr>
            <a:r>
              <a:rPr lang="en-US" sz="1800" b="1" dirty="0">
                <a:solidFill>
                  <a:srgbClr val="14213D"/>
                </a:solidFill>
                <a:latin typeface="DM Sans" pitchFamily="34" charset="0"/>
                <a:ea typeface="DM Sans" pitchFamily="34" charset="-122"/>
                <a:cs typeface="DM Sans" pitchFamily="34" charset="-120"/>
              </a:rPr>
              <a:t>4</a:t>
            </a:r>
            <a:endParaRPr lang="en-US" sz="1800" dirty="0"/>
          </a:p>
        </p:txBody>
      </p:sp>
      <p:sp>
        <p:nvSpPr>
          <p:cNvPr id="10" name="Text 8"/>
          <p:cNvSpPr/>
          <p:nvPr/>
        </p:nvSpPr>
        <p:spPr>
          <a:xfrm>
            <a:off x="1422400" y="4033520"/>
            <a:ext cx="486613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DM Sans" pitchFamily="34" charset="0"/>
                <a:ea typeface="DM Sans" pitchFamily="34" charset="-122"/>
                <a:cs typeface="DM Sans" pitchFamily="34" charset="-120"/>
              </a:rPr>
              <a:t>Stop once V − 1 edges are chosen or the edges run out.</a:t>
            </a:r>
            <a:endParaRPr lang="en-US" sz="1600" dirty="0"/>
          </a:p>
        </p:txBody>
      </p:sp>
      <p:sp>
        <p:nvSpPr>
          <p:cNvPr id="11" name="Shape 9"/>
          <p:cNvSpPr/>
          <p:nvPr/>
        </p:nvSpPr>
        <p:spPr>
          <a:xfrm>
            <a:off x="6553200" y="1620520"/>
            <a:ext cx="4826000" cy="3223260"/>
          </a:xfrm>
          <a:prstGeom prst="roundRect">
            <a:avLst>
              <a:gd name="adj" fmla="val 3152"/>
            </a:avLst>
          </a:prstGeom>
          <a:solidFill>
            <a:srgbClr val="14213D"/>
          </a:solidFill>
          <a:ln/>
        </p:spPr>
      </p:sp>
      <p:sp>
        <p:nvSpPr>
          <p:cNvPr id="12" name="Text 10"/>
          <p:cNvSpPr/>
          <p:nvPr/>
        </p:nvSpPr>
        <p:spPr>
          <a:xfrm>
            <a:off x="6807200" y="1874520"/>
            <a:ext cx="44475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541"/>
                </a:solidFill>
                <a:latin typeface="DM Sans" pitchFamily="34" charset="0"/>
                <a:ea typeface="DM Sans" pitchFamily="34" charset="-122"/>
                <a:cs typeface="DM Sans" pitchFamily="34" charset="-120"/>
              </a:rPr>
              <a:t>PSEUDOCODE</a:t>
            </a:r>
            <a:endParaRPr lang="en-US" sz="1200" dirty="0"/>
          </a:p>
        </p:txBody>
      </p:sp>
      <p:sp>
        <p:nvSpPr>
          <p:cNvPr id="13" name="Text 11"/>
          <p:cNvSpPr/>
          <p:nvPr/>
        </p:nvSpPr>
        <p:spPr>
          <a:xfrm>
            <a:off x="6807200" y="2189480"/>
            <a:ext cx="4447540" cy="2921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FBFBF8"/>
                </a:solidFill>
                <a:latin typeface="JetBrains Mono" pitchFamily="49" charset="0"/>
                <a:ea typeface="JetBrains Mono" pitchFamily="49" charset="-122"/>
                <a:cs typeface="JetBrains Mono" pitchFamily="49" charset="-120"/>
              </a:rPr>
              <a:t>KRUSKAL(G)</a:t>
            </a:r>
            <a:endParaRPr lang="en-US" sz="1400" dirty="0"/>
          </a:p>
        </p:txBody>
      </p:sp>
      <p:sp>
        <p:nvSpPr>
          <p:cNvPr id="14" name="Text 12"/>
          <p:cNvSpPr/>
          <p:nvPr/>
        </p:nvSpPr>
        <p:spPr>
          <a:xfrm>
            <a:off x="7010400" y="2456180"/>
            <a:ext cx="423824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BFBF8"/>
                </a:solidFill>
                <a:latin typeface="JetBrains Mono" pitchFamily="49" charset="0"/>
                <a:ea typeface="JetBrains Mono" pitchFamily="49" charset="-122"/>
                <a:cs typeface="JetBrains Mono" pitchFamily="49" charset="-120"/>
              </a:rPr>
              <a:t>T = {}</a:t>
            </a:r>
            <a:endParaRPr lang="en-US" sz="1400" dirty="0"/>
          </a:p>
        </p:txBody>
      </p:sp>
      <p:sp>
        <p:nvSpPr>
          <p:cNvPr id="15" name="Text 13"/>
          <p:cNvSpPr/>
          <p:nvPr/>
        </p:nvSpPr>
        <p:spPr>
          <a:xfrm>
            <a:off x="7010400" y="2722880"/>
            <a:ext cx="423824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BFBF8"/>
                </a:solidFill>
                <a:latin typeface="JetBrains Mono" pitchFamily="49" charset="0"/>
                <a:ea typeface="JetBrains Mono" pitchFamily="49" charset="-122"/>
                <a:cs typeface="JetBrains Mono" pitchFamily="49" charset="-120"/>
              </a:rPr>
              <a:t>make_set(v) for every vertex v</a:t>
            </a:r>
            <a:endParaRPr lang="en-US" sz="1400" dirty="0"/>
          </a:p>
        </p:txBody>
      </p:sp>
      <p:sp>
        <p:nvSpPr>
          <p:cNvPr id="16" name="Text 14"/>
          <p:cNvSpPr/>
          <p:nvPr/>
        </p:nvSpPr>
        <p:spPr>
          <a:xfrm>
            <a:off x="7010400" y="2989580"/>
            <a:ext cx="423824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BFBF8"/>
                </a:solidFill>
                <a:latin typeface="JetBrains Mono" pitchFamily="49" charset="0"/>
                <a:ea typeface="JetBrains Mono" pitchFamily="49" charset="-122"/>
                <a:cs typeface="JetBrains Mono" pitchFamily="49" charset="-120"/>
              </a:rPr>
              <a:t>sort edges by weight</a:t>
            </a:r>
            <a:endParaRPr lang="en-US" sz="1400" dirty="0"/>
          </a:p>
        </p:txBody>
      </p:sp>
      <p:sp>
        <p:nvSpPr>
          <p:cNvPr id="17" name="Text 15"/>
          <p:cNvSpPr/>
          <p:nvPr/>
        </p:nvSpPr>
        <p:spPr>
          <a:xfrm>
            <a:off x="7010400" y="3256280"/>
            <a:ext cx="423824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BFBF8"/>
                </a:solidFill>
                <a:latin typeface="JetBrains Mono" pitchFamily="49" charset="0"/>
                <a:ea typeface="JetBrains Mono" pitchFamily="49" charset="-122"/>
                <a:cs typeface="JetBrains Mono" pitchFamily="49" charset="-120"/>
              </a:rPr>
              <a:t>for each edge (u, v, w):</a:t>
            </a:r>
            <a:endParaRPr lang="en-US" sz="1400" dirty="0"/>
          </a:p>
        </p:txBody>
      </p:sp>
      <p:sp>
        <p:nvSpPr>
          <p:cNvPr id="18" name="Text 16"/>
          <p:cNvSpPr/>
          <p:nvPr/>
        </p:nvSpPr>
        <p:spPr>
          <a:xfrm>
            <a:off x="7213600" y="3522980"/>
            <a:ext cx="402894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BFBF8"/>
                </a:solidFill>
                <a:latin typeface="JetBrains Mono" pitchFamily="49" charset="0"/>
                <a:ea typeface="JetBrains Mono" pitchFamily="49" charset="-122"/>
                <a:cs typeface="JetBrains Mono" pitchFamily="49" charset="-120"/>
              </a:rPr>
              <a:t>if find(u) != find(v):</a:t>
            </a:r>
            <a:endParaRPr lang="en-US" sz="1400" dirty="0"/>
          </a:p>
        </p:txBody>
      </p:sp>
      <p:sp>
        <p:nvSpPr>
          <p:cNvPr id="19" name="Text 17"/>
          <p:cNvSpPr/>
          <p:nvPr/>
        </p:nvSpPr>
        <p:spPr>
          <a:xfrm>
            <a:off x="7416800" y="3789680"/>
            <a:ext cx="3819652"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BFBF8"/>
                </a:solidFill>
                <a:latin typeface="JetBrains Mono" pitchFamily="49" charset="0"/>
                <a:ea typeface="JetBrains Mono" pitchFamily="49" charset="-122"/>
                <a:cs typeface="JetBrains Mono" pitchFamily="49" charset="-120"/>
              </a:rPr>
              <a:t>T = T + {(u, v, w)}</a:t>
            </a:r>
            <a:endParaRPr lang="en-US" sz="1400" dirty="0"/>
          </a:p>
        </p:txBody>
      </p:sp>
      <p:sp>
        <p:nvSpPr>
          <p:cNvPr id="20" name="Text 18"/>
          <p:cNvSpPr/>
          <p:nvPr/>
        </p:nvSpPr>
        <p:spPr>
          <a:xfrm>
            <a:off x="7416800" y="4056380"/>
            <a:ext cx="3819652"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BFBF8"/>
                </a:solidFill>
                <a:latin typeface="JetBrains Mono" pitchFamily="49" charset="0"/>
                <a:ea typeface="JetBrains Mono" pitchFamily="49" charset="-122"/>
                <a:cs typeface="JetBrains Mono" pitchFamily="49" charset="-120"/>
              </a:rPr>
              <a:t>union(u, v)</a:t>
            </a:r>
            <a:endParaRPr lang="en-US" sz="1400" dirty="0"/>
          </a:p>
        </p:txBody>
      </p:sp>
      <p:sp>
        <p:nvSpPr>
          <p:cNvPr id="21" name="Text 19"/>
          <p:cNvSpPr/>
          <p:nvPr/>
        </p:nvSpPr>
        <p:spPr>
          <a:xfrm>
            <a:off x="7010400" y="4323080"/>
            <a:ext cx="423824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BFBF8"/>
                </a:solidFill>
                <a:latin typeface="JetBrains Mono" pitchFamily="49" charset="0"/>
                <a:ea typeface="JetBrains Mono" pitchFamily="49" charset="-122"/>
                <a:cs typeface="JetBrains Mono" pitchFamily="49" charset="-120"/>
              </a:rPr>
              <a:t>return 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BFBF8"/>
                </a:solidFill>
                <a:latin typeface="DM Sans" pitchFamily="34" charset="0"/>
                <a:ea typeface="DM Sans" pitchFamily="34" charset="-122"/>
                <a:cs typeface="DM Sans" pitchFamily="34" charset="-120"/>
              </a:rPr>
              <a:t>Union-Find: spotting cycles fast</a:t>
            </a:r>
            <a:endParaRPr lang="en-US" sz="3600" dirty="0"/>
          </a:p>
        </p:txBody>
      </p:sp>
      <p:sp>
        <p:nvSpPr>
          <p:cNvPr id="3" name="Text 1"/>
          <p:cNvSpPr/>
          <p:nvPr/>
        </p:nvSpPr>
        <p:spPr>
          <a:xfrm>
            <a:off x="812800" y="1569720"/>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1E3"/>
                </a:solidFill>
                <a:latin typeface="DM Sans" pitchFamily="34" charset="0"/>
                <a:ea typeface="DM Sans" pitchFamily="34" charset="-122"/>
                <a:cs typeface="DM Sans" pitchFamily="34" charset="-120"/>
              </a:rPr>
              <a:t>Kruskal’s needs one question answered quickly: are these two vertices already connected? A disjoint-set structure answers it.</a:t>
            </a:r>
            <a:endParaRPr lang="en-US" sz="1600" dirty="0"/>
          </a:p>
        </p:txBody>
      </p:sp>
      <p:sp>
        <p:nvSpPr>
          <p:cNvPr id="4" name="Shape 2"/>
          <p:cNvSpPr/>
          <p:nvPr/>
        </p:nvSpPr>
        <p:spPr>
          <a:xfrm>
            <a:off x="812800" y="2392680"/>
            <a:ext cx="3386614" cy="2651760"/>
          </a:xfrm>
          <a:prstGeom prst="roundRect">
            <a:avLst>
              <a:gd name="adj" fmla="val 3831"/>
            </a:avLst>
          </a:prstGeom>
          <a:solidFill>
            <a:srgbClr val="1E2F55"/>
          </a:solidFill>
          <a:ln/>
        </p:spPr>
      </p:sp>
      <p:sp>
        <p:nvSpPr>
          <p:cNvPr id="5" name="Text 3"/>
          <p:cNvSpPr/>
          <p:nvPr/>
        </p:nvSpPr>
        <p:spPr>
          <a:xfrm>
            <a:off x="1066800" y="2646680"/>
            <a:ext cx="2964972"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541"/>
                </a:solidFill>
                <a:latin typeface="JetBrains Mono" pitchFamily="49" charset="0"/>
                <a:ea typeface="JetBrains Mono" pitchFamily="49" charset="-122"/>
                <a:cs typeface="JetBrains Mono" pitchFamily="49" charset="-120"/>
              </a:rPr>
              <a:t>find(x)</a:t>
            </a:r>
            <a:endParaRPr lang="en-US" sz="2200" dirty="0"/>
          </a:p>
        </p:txBody>
      </p:sp>
      <p:sp>
        <p:nvSpPr>
          <p:cNvPr id="6" name="Text 4"/>
          <p:cNvSpPr/>
          <p:nvPr/>
        </p:nvSpPr>
        <p:spPr>
          <a:xfrm>
            <a:off x="1066800" y="3083561"/>
            <a:ext cx="2964972" cy="1163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6E8EE"/>
                </a:solidFill>
                <a:latin typeface="DM Sans" pitchFamily="34" charset="0"/>
                <a:ea typeface="DM Sans" pitchFamily="34" charset="-122"/>
                <a:cs typeface="DM Sans" pitchFamily="34" charset="-120"/>
              </a:rPr>
              <a:t>Follows parent links up from x to the root of its tree. Two vertices share a tree exactly when their roots match.</a:t>
            </a:r>
            <a:endParaRPr lang="en-US" sz="1600" dirty="0"/>
          </a:p>
        </p:txBody>
      </p:sp>
      <p:sp>
        <p:nvSpPr>
          <p:cNvPr id="7" name="Shape 5"/>
          <p:cNvSpPr/>
          <p:nvPr/>
        </p:nvSpPr>
        <p:spPr>
          <a:xfrm>
            <a:off x="4402614" y="2392680"/>
            <a:ext cx="3386693" cy="2651760"/>
          </a:xfrm>
          <a:prstGeom prst="roundRect">
            <a:avLst>
              <a:gd name="adj" fmla="val 3831"/>
            </a:avLst>
          </a:prstGeom>
          <a:solidFill>
            <a:srgbClr val="1E2F55"/>
          </a:solidFill>
          <a:ln/>
        </p:spPr>
      </p:sp>
      <p:sp>
        <p:nvSpPr>
          <p:cNvPr id="8" name="Text 6"/>
          <p:cNvSpPr/>
          <p:nvPr/>
        </p:nvSpPr>
        <p:spPr>
          <a:xfrm>
            <a:off x="4656614" y="2646680"/>
            <a:ext cx="296505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541"/>
                </a:solidFill>
                <a:latin typeface="JetBrains Mono" pitchFamily="49" charset="0"/>
                <a:ea typeface="JetBrains Mono" pitchFamily="49" charset="-122"/>
                <a:cs typeface="JetBrains Mono" pitchFamily="49" charset="-120"/>
              </a:rPr>
              <a:t>union(a, b)</a:t>
            </a:r>
            <a:endParaRPr lang="en-US" sz="2200" dirty="0"/>
          </a:p>
        </p:txBody>
      </p:sp>
      <p:sp>
        <p:nvSpPr>
          <p:cNvPr id="9" name="Text 7"/>
          <p:cNvSpPr/>
          <p:nvPr/>
        </p:nvSpPr>
        <p:spPr>
          <a:xfrm>
            <a:off x="4656614" y="3083561"/>
            <a:ext cx="2965054" cy="1163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6E8EE"/>
                </a:solidFill>
                <a:latin typeface="DM Sans" pitchFamily="34" charset="0"/>
                <a:ea typeface="DM Sans" pitchFamily="34" charset="-122"/>
                <a:cs typeface="DM Sans" pitchFamily="34" charset="-120"/>
              </a:rPr>
              <a:t>Hangs the root of one tree under the root of the other, merging two components into one.</a:t>
            </a:r>
            <a:endParaRPr lang="en-US" sz="1600" dirty="0"/>
          </a:p>
        </p:txBody>
      </p:sp>
      <p:sp>
        <p:nvSpPr>
          <p:cNvPr id="10" name="Shape 8"/>
          <p:cNvSpPr/>
          <p:nvPr/>
        </p:nvSpPr>
        <p:spPr>
          <a:xfrm>
            <a:off x="7992507" y="2392680"/>
            <a:ext cx="3386693" cy="2651760"/>
          </a:xfrm>
          <a:prstGeom prst="roundRect">
            <a:avLst>
              <a:gd name="adj" fmla="val 3831"/>
            </a:avLst>
          </a:prstGeom>
          <a:solidFill>
            <a:srgbClr val="1E2F55"/>
          </a:solidFill>
          <a:ln/>
        </p:spPr>
      </p:sp>
      <p:sp>
        <p:nvSpPr>
          <p:cNvPr id="11" name="Text 9"/>
          <p:cNvSpPr/>
          <p:nvPr/>
        </p:nvSpPr>
        <p:spPr>
          <a:xfrm>
            <a:off x="8246507" y="2646680"/>
            <a:ext cx="296505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541"/>
                </a:solidFill>
                <a:latin typeface="DM Sans" pitchFamily="34" charset="0"/>
                <a:ea typeface="DM Sans" pitchFamily="34" charset="-122"/>
                <a:cs typeface="DM Sans" pitchFamily="34" charset="-120"/>
              </a:rPr>
              <a:t>Two speed-ups</a:t>
            </a:r>
            <a:endParaRPr lang="en-US" sz="2200" dirty="0"/>
          </a:p>
        </p:txBody>
      </p:sp>
      <p:sp>
        <p:nvSpPr>
          <p:cNvPr id="12" name="Text 10"/>
          <p:cNvSpPr/>
          <p:nvPr/>
        </p:nvSpPr>
        <p:spPr>
          <a:xfrm>
            <a:off x="8246507" y="3083561"/>
            <a:ext cx="2965054" cy="17322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6E8EE"/>
                </a:solidFill>
                <a:latin typeface="DM Sans" pitchFamily="34" charset="0"/>
                <a:ea typeface="DM Sans" pitchFamily="34" charset="-122"/>
                <a:cs typeface="DM Sans" pitchFamily="34" charset="-120"/>
              </a:rPr>
              <a:t>Path compression flattens the tree during find. Union by rank hangs the shorter tree under the taller one. Together they make each call nearly constant time.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Worked example</a:t>
            </a:r>
            <a:endParaRPr lang="en-US" sz="3600" dirty="0"/>
          </a:p>
        </p:txBody>
      </p:sp>
      <p:pic>
        <p:nvPicPr>
          <p:cNvPr id="3" name="Image 0" descr="Graph with five vertices A to E. Edges A-B, B-C, C-D and D-E are in the tree; A-C, B-D and C-E are skipped."/>
          <p:cNvPicPr>
            <a:picLocks noChangeAspect="1"/>
          </p:cNvPicPr>
          <p:nvPr/>
        </p:nvPicPr>
        <p:blipFill>
          <a:blip r:embed="rId3"/>
          <a:srcRect/>
          <a:stretch/>
        </p:blipFill>
        <p:spPr>
          <a:xfrm>
            <a:off x="812800" y="1569721"/>
            <a:ext cx="5080000" cy="3810000"/>
          </a:xfrm>
          <a:prstGeom prst="rect">
            <a:avLst/>
          </a:prstGeom>
        </p:spPr>
      </p:pic>
      <p:sp>
        <p:nvSpPr>
          <p:cNvPr id="4" name="Text 1"/>
          <p:cNvSpPr/>
          <p:nvPr/>
        </p:nvSpPr>
        <p:spPr>
          <a:xfrm>
            <a:off x="1130300" y="3354071"/>
            <a:ext cx="508000" cy="26924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BFBF8"/>
                </a:solidFill>
                <a:latin typeface="DM Sans" pitchFamily="34" charset="0"/>
                <a:ea typeface="DM Sans" pitchFamily="34" charset="-122"/>
                <a:cs typeface="DM Sans" pitchFamily="34" charset="-120"/>
              </a:rPr>
              <a:t>A</a:t>
            </a:r>
            <a:endParaRPr lang="en-US" sz="1600" dirty="0"/>
          </a:p>
        </p:txBody>
      </p:sp>
      <p:sp>
        <p:nvSpPr>
          <p:cNvPr id="5" name="Text 2"/>
          <p:cNvSpPr/>
          <p:nvPr/>
        </p:nvSpPr>
        <p:spPr>
          <a:xfrm>
            <a:off x="2336800" y="2147571"/>
            <a:ext cx="508000" cy="26924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BFBF8"/>
                </a:solidFill>
                <a:latin typeface="DM Sans" pitchFamily="34" charset="0"/>
                <a:ea typeface="DM Sans" pitchFamily="34" charset="-122"/>
                <a:cs typeface="DM Sans" pitchFamily="34" charset="-120"/>
              </a:rPr>
              <a:t>B</a:t>
            </a:r>
            <a:endParaRPr lang="en-US" sz="1600" dirty="0"/>
          </a:p>
        </p:txBody>
      </p:sp>
      <p:sp>
        <p:nvSpPr>
          <p:cNvPr id="6" name="Text 3"/>
          <p:cNvSpPr/>
          <p:nvPr/>
        </p:nvSpPr>
        <p:spPr>
          <a:xfrm>
            <a:off x="2336800" y="4560571"/>
            <a:ext cx="508000" cy="26924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BFBF8"/>
                </a:solidFill>
                <a:latin typeface="DM Sans" pitchFamily="34" charset="0"/>
                <a:ea typeface="DM Sans" pitchFamily="34" charset="-122"/>
                <a:cs typeface="DM Sans" pitchFamily="34" charset="-120"/>
              </a:rPr>
              <a:t>C</a:t>
            </a:r>
            <a:endParaRPr lang="en-US" sz="1600" dirty="0"/>
          </a:p>
        </p:txBody>
      </p:sp>
      <p:sp>
        <p:nvSpPr>
          <p:cNvPr id="7" name="Text 4"/>
          <p:cNvSpPr/>
          <p:nvPr/>
        </p:nvSpPr>
        <p:spPr>
          <a:xfrm>
            <a:off x="3860800" y="3354071"/>
            <a:ext cx="508000" cy="26924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BFBF8"/>
                </a:solidFill>
                <a:latin typeface="DM Sans" pitchFamily="34" charset="0"/>
                <a:ea typeface="DM Sans" pitchFamily="34" charset="-122"/>
                <a:cs typeface="DM Sans" pitchFamily="34" charset="-120"/>
              </a:rPr>
              <a:t>D</a:t>
            </a:r>
            <a:endParaRPr lang="en-US" sz="1600" dirty="0"/>
          </a:p>
        </p:txBody>
      </p:sp>
      <p:sp>
        <p:nvSpPr>
          <p:cNvPr id="8" name="Text 5"/>
          <p:cNvSpPr/>
          <p:nvPr/>
        </p:nvSpPr>
        <p:spPr>
          <a:xfrm>
            <a:off x="5003800" y="4560571"/>
            <a:ext cx="508000" cy="26924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BFBF8"/>
                </a:solidFill>
                <a:latin typeface="DM Sans" pitchFamily="34" charset="0"/>
                <a:ea typeface="DM Sans" pitchFamily="34" charset="-122"/>
                <a:cs typeface="DM Sans" pitchFamily="34" charset="-120"/>
              </a:rPr>
              <a:t>E</a:t>
            </a:r>
            <a:endParaRPr lang="en-US" sz="1600" dirty="0"/>
          </a:p>
        </p:txBody>
      </p:sp>
      <p:sp>
        <p:nvSpPr>
          <p:cNvPr id="9" name="Text 6"/>
          <p:cNvSpPr/>
          <p:nvPr/>
        </p:nvSpPr>
        <p:spPr>
          <a:xfrm>
            <a:off x="1847850" y="2763521"/>
            <a:ext cx="279400" cy="213360"/>
          </a:xfrm>
          <a:prstGeom prst="rect">
            <a:avLst/>
          </a:prstGeom>
          <a:solidFill>
            <a:srgbClr val="FBFBF8"/>
          </a:solidFill>
          <a:ln/>
        </p:spPr>
        <p:txBody>
          <a:bodyPr wrap="square" lIns="0" tIns="0" rIns="0" bIns="0" rtlCol="0" anchor="t">
            <a:normAutofit/>
          </a:bodyPr>
          <a:lstStyle/>
          <a:p>
            <a:pPr marL="0" indent="0" algn="ctr">
              <a:lnSpc>
                <a:spcPts val="1680"/>
              </a:lnSpc>
              <a:buNone/>
            </a:pPr>
            <a:r>
              <a:rPr lang="en-US" sz="1400" b="1" dirty="0">
                <a:solidFill>
                  <a:srgbClr val="14213D"/>
                </a:solidFill>
                <a:latin typeface="DM Sans" pitchFamily="34" charset="0"/>
                <a:ea typeface="DM Sans" pitchFamily="34" charset="-122"/>
                <a:cs typeface="DM Sans" pitchFamily="34" charset="-120"/>
              </a:rPr>
              <a:t>1</a:t>
            </a:r>
            <a:endParaRPr lang="en-US" sz="1400" dirty="0"/>
          </a:p>
        </p:txBody>
      </p:sp>
      <p:sp>
        <p:nvSpPr>
          <p:cNvPr id="10" name="Text 7"/>
          <p:cNvSpPr/>
          <p:nvPr/>
        </p:nvSpPr>
        <p:spPr>
          <a:xfrm>
            <a:off x="2451100" y="3366771"/>
            <a:ext cx="279400" cy="213360"/>
          </a:xfrm>
          <a:prstGeom prst="rect">
            <a:avLst/>
          </a:prstGeom>
          <a:solidFill>
            <a:srgbClr val="FBFBF8"/>
          </a:solidFill>
          <a:ln/>
        </p:spPr>
        <p:txBody>
          <a:bodyPr wrap="square" lIns="0" tIns="0" rIns="0" bIns="0" rtlCol="0" anchor="t">
            <a:normAutofit/>
          </a:bodyPr>
          <a:lstStyle/>
          <a:p>
            <a:pPr marL="0" indent="0" algn="ctr">
              <a:lnSpc>
                <a:spcPts val="1680"/>
              </a:lnSpc>
              <a:buNone/>
            </a:pPr>
            <a:r>
              <a:rPr lang="en-US" sz="1400" b="1" dirty="0">
                <a:solidFill>
                  <a:srgbClr val="14213D"/>
                </a:solidFill>
                <a:latin typeface="DM Sans" pitchFamily="34" charset="0"/>
                <a:ea typeface="DM Sans" pitchFamily="34" charset="-122"/>
                <a:cs typeface="DM Sans" pitchFamily="34" charset="-120"/>
              </a:rPr>
              <a:t>2</a:t>
            </a:r>
            <a:endParaRPr lang="en-US" sz="1400" dirty="0"/>
          </a:p>
        </p:txBody>
      </p:sp>
      <p:sp>
        <p:nvSpPr>
          <p:cNvPr id="11" name="Text 8"/>
          <p:cNvSpPr/>
          <p:nvPr/>
        </p:nvSpPr>
        <p:spPr>
          <a:xfrm>
            <a:off x="1847850" y="3970021"/>
            <a:ext cx="279400" cy="213360"/>
          </a:xfrm>
          <a:prstGeom prst="rect">
            <a:avLst/>
          </a:prstGeom>
          <a:solidFill>
            <a:srgbClr val="FBFBF8"/>
          </a:solidFill>
          <a:ln/>
        </p:spPr>
        <p:txBody>
          <a:bodyPr wrap="square" lIns="0" tIns="0" rIns="0" bIns="0" rtlCol="0" anchor="t">
            <a:normAutofit/>
          </a:bodyPr>
          <a:lstStyle/>
          <a:p>
            <a:pPr marL="0" indent="0" algn="ctr">
              <a:lnSpc>
                <a:spcPts val="1680"/>
              </a:lnSpc>
              <a:buNone/>
            </a:pPr>
            <a:r>
              <a:rPr lang="en-US" sz="1400" b="1" dirty="0">
                <a:solidFill>
                  <a:srgbClr val="14213D"/>
                </a:solidFill>
                <a:latin typeface="DM Sans" pitchFamily="34" charset="0"/>
                <a:ea typeface="DM Sans" pitchFamily="34" charset="-122"/>
                <a:cs typeface="DM Sans" pitchFamily="34" charset="-120"/>
              </a:rPr>
              <a:t>3</a:t>
            </a:r>
            <a:endParaRPr lang="en-US" sz="1400" dirty="0"/>
          </a:p>
        </p:txBody>
      </p:sp>
      <p:sp>
        <p:nvSpPr>
          <p:cNvPr id="12" name="Text 9"/>
          <p:cNvSpPr/>
          <p:nvPr/>
        </p:nvSpPr>
        <p:spPr>
          <a:xfrm>
            <a:off x="3213100" y="3970021"/>
            <a:ext cx="279400" cy="213360"/>
          </a:xfrm>
          <a:prstGeom prst="rect">
            <a:avLst/>
          </a:prstGeom>
          <a:solidFill>
            <a:srgbClr val="FBFBF8"/>
          </a:solidFill>
          <a:ln/>
        </p:spPr>
        <p:txBody>
          <a:bodyPr wrap="square" lIns="0" tIns="0" rIns="0" bIns="0" rtlCol="0" anchor="t">
            <a:normAutofit/>
          </a:bodyPr>
          <a:lstStyle/>
          <a:p>
            <a:pPr marL="0" indent="0" algn="ctr">
              <a:lnSpc>
                <a:spcPts val="1680"/>
              </a:lnSpc>
              <a:buNone/>
            </a:pPr>
            <a:r>
              <a:rPr lang="en-US" sz="1400" b="1" dirty="0">
                <a:solidFill>
                  <a:srgbClr val="14213D"/>
                </a:solidFill>
                <a:latin typeface="DM Sans" pitchFamily="34" charset="0"/>
                <a:ea typeface="DM Sans" pitchFamily="34" charset="-122"/>
                <a:cs typeface="DM Sans" pitchFamily="34" charset="-120"/>
              </a:rPr>
              <a:t>4</a:t>
            </a:r>
            <a:endParaRPr lang="en-US" sz="1400" dirty="0"/>
          </a:p>
        </p:txBody>
      </p:sp>
      <p:sp>
        <p:nvSpPr>
          <p:cNvPr id="13" name="Text 10"/>
          <p:cNvSpPr/>
          <p:nvPr/>
        </p:nvSpPr>
        <p:spPr>
          <a:xfrm>
            <a:off x="3213100" y="2763521"/>
            <a:ext cx="279400" cy="213360"/>
          </a:xfrm>
          <a:prstGeom prst="rect">
            <a:avLst/>
          </a:prstGeom>
          <a:solidFill>
            <a:srgbClr val="FBFBF8"/>
          </a:solidFill>
          <a:ln/>
        </p:spPr>
        <p:txBody>
          <a:bodyPr wrap="square" lIns="0" tIns="0" rIns="0" bIns="0" rtlCol="0" anchor="t">
            <a:normAutofit/>
          </a:bodyPr>
          <a:lstStyle/>
          <a:p>
            <a:pPr marL="0" indent="0" algn="ctr">
              <a:lnSpc>
                <a:spcPts val="1680"/>
              </a:lnSpc>
              <a:buNone/>
            </a:pPr>
            <a:r>
              <a:rPr lang="en-US" sz="1400" b="1" dirty="0">
                <a:solidFill>
                  <a:srgbClr val="14213D"/>
                </a:solidFill>
                <a:latin typeface="DM Sans" pitchFamily="34" charset="0"/>
                <a:ea typeface="DM Sans" pitchFamily="34" charset="-122"/>
                <a:cs typeface="DM Sans" pitchFamily="34" charset="-120"/>
              </a:rPr>
              <a:t>5</a:t>
            </a:r>
            <a:endParaRPr lang="en-US" sz="1400" dirty="0"/>
          </a:p>
        </p:txBody>
      </p:sp>
      <p:sp>
        <p:nvSpPr>
          <p:cNvPr id="14" name="Text 11"/>
          <p:cNvSpPr/>
          <p:nvPr/>
        </p:nvSpPr>
        <p:spPr>
          <a:xfrm>
            <a:off x="4546600" y="3970021"/>
            <a:ext cx="279400" cy="213360"/>
          </a:xfrm>
          <a:prstGeom prst="rect">
            <a:avLst/>
          </a:prstGeom>
          <a:solidFill>
            <a:srgbClr val="FBFBF8"/>
          </a:solidFill>
          <a:ln/>
        </p:spPr>
        <p:txBody>
          <a:bodyPr wrap="square" lIns="0" tIns="0" rIns="0" bIns="0" rtlCol="0" anchor="t">
            <a:normAutofit/>
          </a:bodyPr>
          <a:lstStyle/>
          <a:p>
            <a:pPr marL="0" indent="0" algn="ctr">
              <a:lnSpc>
                <a:spcPts val="1680"/>
              </a:lnSpc>
              <a:buNone/>
            </a:pPr>
            <a:r>
              <a:rPr lang="en-US" sz="1400" b="1" dirty="0">
                <a:solidFill>
                  <a:srgbClr val="14213D"/>
                </a:solidFill>
                <a:latin typeface="DM Sans" pitchFamily="34" charset="0"/>
                <a:ea typeface="DM Sans" pitchFamily="34" charset="-122"/>
                <a:cs typeface="DM Sans" pitchFamily="34" charset="-120"/>
              </a:rPr>
              <a:t>6</a:t>
            </a:r>
            <a:endParaRPr lang="en-US" sz="1400" dirty="0"/>
          </a:p>
        </p:txBody>
      </p:sp>
      <p:sp>
        <p:nvSpPr>
          <p:cNvPr id="15" name="Text 12"/>
          <p:cNvSpPr/>
          <p:nvPr/>
        </p:nvSpPr>
        <p:spPr>
          <a:xfrm>
            <a:off x="3784600" y="4573271"/>
            <a:ext cx="279400" cy="213360"/>
          </a:xfrm>
          <a:prstGeom prst="rect">
            <a:avLst/>
          </a:prstGeom>
          <a:solidFill>
            <a:srgbClr val="FBFBF8"/>
          </a:solidFill>
          <a:ln/>
        </p:spPr>
        <p:txBody>
          <a:bodyPr wrap="square" lIns="0" tIns="0" rIns="0" bIns="0" rtlCol="0" anchor="t">
            <a:normAutofit/>
          </a:bodyPr>
          <a:lstStyle/>
          <a:p>
            <a:pPr marL="0" indent="0" algn="ctr">
              <a:lnSpc>
                <a:spcPts val="1680"/>
              </a:lnSpc>
              <a:buNone/>
            </a:pPr>
            <a:r>
              <a:rPr lang="en-US" sz="1400" b="1" dirty="0">
                <a:solidFill>
                  <a:srgbClr val="14213D"/>
                </a:solidFill>
                <a:latin typeface="DM Sans" pitchFamily="34" charset="0"/>
                <a:ea typeface="DM Sans" pitchFamily="34" charset="-122"/>
                <a:cs typeface="DM Sans" pitchFamily="34" charset="-120"/>
              </a:rPr>
              <a:t>7</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309360" y="1579881"/>
          <a:ext cx="5069840" cy="3068320"/>
        </p:xfrm>
        <a:graphic>
          <a:graphicData uri="http://schemas.openxmlformats.org/drawingml/2006/table">
            <a:tbl>
              <a:tblPr/>
              <a:tblGrid>
                <a:gridCol w="1267460">
                  <a:extLst>
                    <a:ext uri="{9D8B030D-6E8A-4147-A177-3AD203B41FA5}">
                      <a16:colId xmlns:a16="http://schemas.microsoft.com/office/drawing/2014/main" val="20000"/>
                    </a:ext>
                  </a:extLst>
                </a:gridCol>
                <a:gridCol w="1013968">
                  <a:extLst>
                    <a:ext uri="{9D8B030D-6E8A-4147-A177-3AD203B41FA5}">
                      <a16:colId xmlns:a16="http://schemas.microsoft.com/office/drawing/2014/main" val="20001"/>
                    </a:ext>
                  </a:extLst>
                </a:gridCol>
                <a:gridCol w="2788412">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BFBF8"/>
                          </a:solidFill>
                          <a:latin typeface="DM Sans" pitchFamily="34" charset="0"/>
                          <a:ea typeface="DM Sans" pitchFamily="34" charset="-122"/>
                          <a:cs typeface="DM Sans" pitchFamily="34" charset="-120"/>
                        </a:rPr>
                        <a:t>Edge</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DM Sans" pitchFamily="34" charset="0"/>
                          <a:ea typeface="DM Sans" pitchFamily="34" charset="-122"/>
                          <a:cs typeface="DM Sans" pitchFamily="34" charset="-120"/>
                        </a:rPr>
                        <a:t>Weight</a:t>
                      </a:r>
                      <a:endParaRPr lang="en-US" sz="1400" dirty="0">
                        <a:latin typeface="DM Sans" charset="0"/>
                        <a:ea typeface="DM Sans" charset="0"/>
                        <a:cs typeface="DM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DM Sans" pitchFamily="34" charset="0"/>
                          <a:ea typeface="DM Sans" pitchFamily="34" charset="-122"/>
                          <a:cs typeface="DM Sans" pitchFamily="34" charset="-120"/>
                        </a:rPr>
                        <a:t>Decision</a:t>
                      </a:r>
                      <a:endParaRPr lang="en-US" sz="1400" dirty="0">
                        <a:latin typeface="DM Sans" charset="0"/>
                        <a:ea typeface="DM Sans" charset="0"/>
                        <a:cs typeface="DM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A–B</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1</a:t>
                      </a:r>
                      <a:endParaRPr lang="en-US" sz="1400" dirty="0">
                        <a:latin typeface="DM Sans" charset="0"/>
                        <a:ea typeface="DM Sans" charset="0"/>
                        <a:cs typeface="DM Sans" charset="0"/>
                      </a:endParaRPr>
                    </a:p>
                  </a:txBody>
                  <a:tcPr marL="62230" marR="62230" marT="62230" marB="62230">
                    <a:lnL w="12700" cap="flat" cmpd="sng" algn="ctr">
                      <a:solidFill>
                        <a:srgbClr val="B0BCBA"/>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Add</a:t>
                      </a:r>
                      <a:endParaRPr lang="en-US" sz="1400" dirty="0">
                        <a:latin typeface="DM Sans" charset="0"/>
                        <a:ea typeface="DM Sans" charset="0"/>
                        <a:cs typeface="DM Sans" charset="0"/>
                      </a:endParaRPr>
                    </a:p>
                  </a:txBody>
                  <a:tcPr marL="62230" marR="62230" marT="62230" marB="62230">
                    <a:lnL w="12700" cap="flat" cmpd="sng" algn="ctr">
                      <a:solidFill>
                        <a:srgbClr val="B0BCBA"/>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B–C</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2</a:t>
                      </a:r>
                      <a:endParaRPr lang="en-US" sz="1400" dirty="0">
                        <a:latin typeface="DM Sans" charset="0"/>
                        <a:ea typeface="DM Sans" charset="0"/>
                        <a:cs typeface="DM Sans" charset="0"/>
                      </a:endParaRPr>
                    </a:p>
                  </a:txBody>
                  <a:tcPr marL="62230" marR="62230" marT="62230" marB="62230">
                    <a:lnL w="12700" cap="flat" cmpd="sng" algn="ctr">
                      <a:solidFill>
                        <a:srgbClr val="B0BCBA"/>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Add</a:t>
                      </a:r>
                      <a:endParaRPr lang="en-US" sz="1400" dirty="0">
                        <a:latin typeface="DM Sans" charset="0"/>
                        <a:ea typeface="DM Sans" charset="0"/>
                        <a:cs typeface="DM Sans" charset="0"/>
                      </a:endParaRPr>
                    </a:p>
                  </a:txBody>
                  <a:tcPr marL="62230" marR="62230" marT="62230" marB="62230">
                    <a:lnL w="12700" cap="flat" cmpd="sng" algn="ctr">
                      <a:solidFill>
                        <a:srgbClr val="B0BCBA"/>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A–C</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3</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Skip, cycle</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C–D</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4</a:t>
                      </a:r>
                      <a:endParaRPr lang="en-US" sz="1400" dirty="0">
                        <a:latin typeface="DM Sans" charset="0"/>
                        <a:ea typeface="DM Sans" charset="0"/>
                        <a:cs typeface="DM Sans" charset="0"/>
                      </a:endParaRPr>
                    </a:p>
                  </a:txBody>
                  <a:tcPr marL="62230" marR="62230" marT="62230" marB="62230">
                    <a:lnL w="12700" cap="flat" cmpd="sng" algn="ctr">
                      <a:solidFill>
                        <a:srgbClr val="B0BCBA"/>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Add</a:t>
                      </a:r>
                      <a:endParaRPr lang="en-US" sz="1400" dirty="0">
                        <a:latin typeface="DM Sans" charset="0"/>
                        <a:ea typeface="DM Sans" charset="0"/>
                        <a:cs typeface="DM Sans" charset="0"/>
                      </a:endParaRPr>
                    </a:p>
                  </a:txBody>
                  <a:tcPr marL="62230" marR="62230" marT="62230" marB="62230">
                    <a:lnL w="12700" cap="flat" cmpd="sng" algn="ctr">
                      <a:solidFill>
                        <a:srgbClr val="B0BCBA"/>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B–D</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5</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Skip, cycle</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D–E</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6</a:t>
                      </a:r>
                      <a:endParaRPr lang="en-US" sz="1400" dirty="0">
                        <a:latin typeface="DM Sans" charset="0"/>
                        <a:ea typeface="DM Sans" charset="0"/>
                        <a:cs typeface="DM Sans" charset="0"/>
                      </a:endParaRPr>
                    </a:p>
                  </a:txBody>
                  <a:tcPr marL="62230" marR="62230" marT="62230" marB="62230">
                    <a:lnL w="12700" cap="flat" cmpd="sng" algn="ctr">
                      <a:solidFill>
                        <a:srgbClr val="B0BCBA"/>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Add (4th edge)</a:t>
                      </a:r>
                      <a:endParaRPr lang="en-US" sz="1400" dirty="0">
                        <a:latin typeface="DM Sans" charset="0"/>
                        <a:ea typeface="DM Sans" charset="0"/>
                        <a:cs typeface="DM Sans" charset="0"/>
                      </a:endParaRPr>
                    </a:p>
                  </a:txBody>
                  <a:tcPr marL="62230" marR="62230" marT="62230" marB="62230">
                    <a:lnL w="12700" cap="flat" cmpd="sng" algn="ctr">
                      <a:solidFill>
                        <a:srgbClr val="B0BCBA"/>
                      </a:solidFill>
                      <a:prstDash val="solid"/>
                      <a:round/>
                      <a:headEnd type="none" w="med" len="med"/>
                      <a:tailEnd type="none" w="med" len="med"/>
                    </a:lnL>
                    <a:lnR w="12700" cap="flat" cmpd="sng" algn="ctr">
                      <a:solidFill>
                        <a:srgbClr val="B0BCBA"/>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0BCBA"/>
                      </a:solidFill>
                      <a:prstDash val="solid"/>
                      <a:round/>
                      <a:headEnd type="none" w="med" len="med"/>
                      <a:tailEnd type="none" w="med" len="med"/>
                    </a:lnB>
                    <a:solidFill>
                      <a:srgbClr val="DCEBE9"/>
                    </a:solidFill>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C–E</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7</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Skip, tree complete</a:t>
                      </a:r>
                      <a:endParaRPr lang="en-US" sz="1400" dirty="0">
                        <a:latin typeface="DM Sans" charset="0"/>
                        <a:ea typeface="DM Sans" charset="0"/>
                        <a:cs typeface="DM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0BCBA"/>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7" name="Text 13"/>
          <p:cNvSpPr/>
          <p:nvPr/>
        </p:nvSpPr>
        <p:spPr>
          <a:xfrm>
            <a:off x="6299200" y="4800600"/>
            <a:ext cx="523240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DM Sans" pitchFamily="34" charset="0"/>
                <a:ea typeface="DM Sans" pitchFamily="34" charset="-122"/>
                <a:cs typeface="DM Sans" pitchFamily="34" charset="-120"/>
              </a:rPr>
              <a:t>MST total weight: 1 + 2 + 4 + 6 = 13</a:t>
            </a:r>
            <a:endParaRPr lang="en-US" sz="1800" dirty="0"/>
          </a:p>
        </p:txBody>
      </p:sp>
      <p:sp>
        <p:nvSpPr>
          <p:cNvPr id="18" name="Text 14"/>
          <p:cNvSpPr/>
          <p:nvPr/>
        </p:nvSpPr>
        <p:spPr>
          <a:xfrm>
            <a:off x="6299200" y="5227321"/>
            <a:ext cx="52324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Solid teal edges are in the tree. Dashed grey edges were skipped.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Complexity and correctness</a:t>
            </a:r>
            <a:endParaRPr lang="en-US" sz="3600" dirty="0"/>
          </a:p>
        </p:txBody>
      </p:sp>
      <p:sp>
        <p:nvSpPr>
          <p:cNvPr id="3" name="Shape 1"/>
          <p:cNvSpPr/>
          <p:nvPr/>
        </p:nvSpPr>
        <p:spPr>
          <a:xfrm>
            <a:off x="812800" y="1569721"/>
            <a:ext cx="3386614" cy="1671320"/>
          </a:xfrm>
          <a:prstGeom prst="roundRect">
            <a:avLst>
              <a:gd name="adj" fmla="val 6079"/>
            </a:avLst>
          </a:prstGeom>
          <a:solidFill>
            <a:srgbClr val="F1EFE8"/>
          </a:solidFill>
          <a:ln/>
        </p:spPr>
      </p:sp>
      <p:sp>
        <p:nvSpPr>
          <p:cNvPr id="4" name="Text 2"/>
          <p:cNvSpPr/>
          <p:nvPr/>
        </p:nvSpPr>
        <p:spPr>
          <a:xfrm>
            <a:off x="1041400" y="1798321"/>
            <a:ext cx="301729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707A"/>
                </a:solidFill>
                <a:latin typeface="JetBrains Mono" pitchFamily="49" charset="0"/>
                <a:ea typeface="JetBrains Mono" pitchFamily="49" charset="-122"/>
                <a:cs typeface="JetBrains Mono" pitchFamily="49" charset="-120"/>
              </a:rPr>
              <a:t>O(E log E)</a:t>
            </a:r>
            <a:endParaRPr lang="en-US" sz="2200" dirty="0"/>
          </a:p>
        </p:txBody>
      </p:sp>
      <p:sp>
        <p:nvSpPr>
          <p:cNvPr id="5" name="Text 3"/>
          <p:cNvSpPr/>
          <p:nvPr/>
        </p:nvSpPr>
        <p:spPr>
          <a:xfrm>
            <a:off x="1041400" y="2265682"/>
            <a:ext cx="3017296"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Total running time. Sorting the edges dominates, and it equals O(E log V).</a:t>
            </a:r>
            <a:endParaRPr lang="en-US" sz="1400" dirty="0"/>
          </a:p>
        </p:txBody>
      </p:sp>
      <p:sp>
        <p:nvSpPr>
          <p:cNvPr id="6" name="Shape 4"/>
          <p:cNvSpPr/>
          <p:nvPr/>
        </p:nvSpPr>
        <p:spPr>
          <a:xfrm>
            <a:off x="4402614" y="1569721"/>
            <a:ext cx="3386693" cy="1671320"/>
          </a:xfrm>
          <a:prstGeom prst="roundRect">
            <a:avLst>
              <a:gd name="adj" fmla="val 6079"/>
            </a:avLst>
          </a:prstGeom>
          <a:solidFill>
            <a:srgbClr val="F1EFE8"/>
          </a:solidFill>
          <a:ln/>
        </p:spPr>
      </p:sp>
      <p:sp>
        <p:nvSpPr>
          <p:cNvPr id="7" name="Text 5"/>
          <p:cNvSpPr/>
          <p:nvPr/>
        </p:nvSpPr>
        <p:spPr>
          <a:xfrm>
            <a:off x="4631214" y="1798321"/>
            <a:ext cx="3017378"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707A"/>
                </a:solidFill>
                <a:latin typeface="JetBrains Mono" pitchFamily="49" charset="0"/>
                <a:ea typeface="JetBrains Mono" pitchFamily="49" charset="-122"/>
                <a:cs typeface="JetBrains Mono" pitchFamily="49" charset="-120"/>
              </a:rPr>
              <a:t>O(E α(V))</a:t>
            </a:r>
            <a:endParaRPr lang="en-US" sz="2200" dirty="0"/>
          </a:p>
        </p:txBody>
      </p:sp>
      <p:sp>
        <p:nvSpPr>
          <p:cNvPr id="8" name="Text 6"/>
          <p:cNvSpPr/>
          <p:nvPr/>
        </p:nvSpPr>
        <p:spPr>
          <a:xfrm>
            <a:off x="4631214" y="2265682"/>
            <a:ext cx="301737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Cost of all find and union calls. α grows so slowly that it stays below 5 in practice.</a:t>
            </a:r>
            <a:endParaRPr lang="en-US" sz="1400" dirty="0"/>
          </a:p>
        </p:txBody>
      </p:sp>
      <p:sp>
        <p:nvSpPr>
          <p:cNvPr id="9" name="Shape 7"/>
          <p:cNvSpPr/>
          <p:nvPr/>
        </p:nvSpPr>
        <p:spPr>
          <a:xfrm>
            <a:off x="7992507" y="1569721"/>
            <a:ext cx="3386693" cy="1671320"/>
          </a:xfrm>
          <a:prstGeom prst="roundRect">
            <a:avLst>
              <a:gd name="adj" fmla="val 6079"/>
            </a:avLst>
          </a:prstGeom>
          <a:solidFill>
            <a:srgbClr val="F1EFE8"/>
          </a:solidFill>
          <a:ln/>
        </p:spPr>
      </p:sp>
      <p:sp>
        <p:nvSpPr>
          <p:cNvPr id="10" name="Text 8"/>
          <p:cNvSpPr/>
          <p:nvPr/>
        </p:nvSpPr>
        <p:spPr>
          <a:xfrm>
            <a:off x="8221107" y="1798321"/>
            <a:ext cx="3017378"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707A"/>
                </a:solidFill>
                <a:latin typeface="JetBrains Mono" pitchFamily="49" charset="0"/>
                <a:ea typeface="JetBrains Mono" pitchFamily="49" charset="-122"/>
                <a:cs typeface="JetBrains Mono" pitchFamily="49" charset="-120"/>
              </a:rPr>
              <a:t>O(V + E)</a:t>
            </a:r>
            <a:endParaRPr lang="en-US" sz="2200" dirty="0"/>
          </a:p>
        </p:txBody>
      </p:sp>
      <p:sp>
        <p:nvSpPr>
          <p:cNvPr id="11" name="Text 9"/>
          <p:cNvSpPr/>
          <p:nvPr/>
        </p:nvSpPr>
        <p:spPr>
          <a:xfrm>
            <a:off x="8221107" y="2265682"/>
            <a:ext cx="301737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Memory for the edge list and the disjoint-set arrays.</a:t>
            </a:r>
            <a:endParaRPr lang="en-US" sz="1400" dirty="0"/>
          </a:p>
        </p:txBody>
      </p:sp>
      <p:sp>
        <p:nvSpPr>
          <p:cNvPr id="12" name="Shape 10"/>
          <p:cNvSpPr/>
          <p:nvPr/>
        </p:nvSpPr>
        <p:spPr>
          <a:xfrm>
            <a:off x="812800" y="3495039"/>
            <a:ext cx="5181600" cy="1889760"/>
          </a:xfrm>
          <a:prstGeom prst="roundRect">
            <a:avLst>
              <a:gd name="adj" fmla="val 5376"/>
            </a:avLst>
          </a:prstGeom>
          <a:solidFill>
            <a:srgbClr val="14213D"/>
          </a:solidFill>
          <a:ln/>
        </p:spPr>
      </p:sp>
      <p:sp>
        <p:nvSpPr>
          <p:cNvPr id="13" name="Text 11"/>
          <p:cNvSpPr/>
          <p:nvPr/>
        </p:nvSpPr>
        <p:spPr>
          <a:xfrm>
            <a:off x="1041400" y="3723639"/>
            <a:ext cx="4866132"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541"/>
                </a:solidFill>
                <a:latin typeface="DM Sans" pitchFamily="34" charset="0"/>
                <a:ea typeface="DM Sans" pitchFamily="34" charset="-122"/>
                <a:cs typeface="DM Sans" pitchFamily="34" charset="-120"/>
              </a:rPr>
              <a:t>Why it is correct</a:t>
            </a:r>
            <a:endParaRPr lang="en-US" sz="2200" dirty="0"/>
          </a:p>
        </p:txBody>
      </p:sp>
      <p:sp>
        <p:nvSpPr>
          <p:cNvPr id="14" name="Text 12"/>
          <p:cNvSpPr/>
          <p:nvPr/>
        </p:nvSpPr>
        <p:spPr>
          <a:xfrm>
            <a:off x="1041400" y="4160521"/>
            <a:ext cx="486613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E8EE"/>
                </a:solidFill>
                <a:latin typeface="DM Sans" pitchFamily="34" charset="0"/>
                <a:ea typeface="DM Sans" pitchFamily="34" charset="-122"/>
                <a:cs typeface="DM Sans" pitchFamily="34" charset="-120"/>
              </a:rPr>
              <a:t>Cut property: for any cut of the graph, the lightest edge crossing it belongs to some minimum spanning tree. Each edge Kruskal accepts is the lightest one leaving its tree, so every greedy choice is safe.</a:t>
            </a:r>
            <a:endParaRPr lang="en-US" sz="1400" dirty="0"/>
          </a:p>
        </p:txBody>
      </p:sp>
      <p:sp>
        <p:nvSpPr>
          <p:cNvPr id="15" name="Shape 13"/>
          <p:cNvSpPr/>
          <p:nvPr/>
        </p:nvSpPr>
        <p:spPr>
          <a:xfrm>
            <a:off x="6197600" y="3495039"/>
            <a:ext cx="5181600" cy="1889760"/>
          </a:xfrm>
          <a:prstGeom prst="roundRect">
            <a:avLst>
              <a:gd name="adj" fmla="val 5376"/>
            </a:avLst>
          </a:prstGeom>
          <a:solidFill>
            <a:srgbClr val="F1EFE8"/>
          </a:solidFill>
          <a:ln/>
        </p:spPr>
      </p:sp>
      <p:sp>
        <p:nvSpPr>
          <p:cNvPr id="16" name="Text 14"/>
          <p:cNvSpPr/>
          <p:nvPr/>
        </p:nvSpPr>
        <p:spPr>
          <a:xfrm>
            <a:off x="6426200" y="3723639"/>
            <a:ext cx="4866132"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7707A"/>
                </a:solidFill>
                <a:latin typeface="DM Sans" pitchFamily="34" charset="0"/>
                <a:ea typeface="DM Sans" pitchFamily="34" charset="-122"/>
                <a:cs typeface="DM Sans" pitchFamily="34" charset="-120"/>
              </a:rPr>
              <a:t>Kruskal vs Prim</a:t>
            </a:r>
            <a:endParaRPr lang="en-US" sz="2200" dirty="0"/>
          </a:p>
        </p:txBody>
      </p:sp>
      <p:sp>
        <p:nvSpPr>
          <p:cNvPr id="17" name="Text 15"/>
          <p:cNvSpPr/>
          <p:nvPr/>
        </p:nvSpPr>
        <p:spPr>
          <a:xfrm>
            <a:off x="6426200" y="4160521"/>
            <a:ext cx="486613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DM Sans" pitchFamily="34" charset="0"/>
                <a:ea typeface="DM Sans" pitchFamily="34" charset="-122"/>
                <a:cs typeface="DM Sans" pitchFamily="34" charset="-120"/>
              </a:rPr>
              <a:t>Kruskal sorts edges and grows a forest, which suits sparse graphs. Prim grows one tree from a start vertex and is often faster on dense graphs. Both return a minimum spanning tree.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A54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Where it is used, and what to remember</a:t>
            </a:r>
            <a:endParaRPr lang="en-US" sz="3600" dirty="0"/>
          </a:p>
        </p:txBody>
      </p:sp>
      <p:sp>
        <p:nvSpPr>
          <p:cNvPr id="3" name="Shape 1"/>
          <p:cNvSpPr/>
          <p:nvPr/>
        </p:nvSpPr>
        <p:spPr>
          <a:xfrm>
            <a:off x="812800" y="1569721"/>
            <a:ext cx="5181600" cy="3220720"/>
          </a:xfrm>
          <a:prstGeom prst="roundRect">
            <a:avLst>
              <a:gd name="adj" fmla="val 3155"/>
            </a:avLst>
          </a:prstGeom>
          <a:solidFill>
            <a:srgbClr val="FBFBF8"/>
          </a:solidFill>
          <a:ln/>
        </p:spPr>
      </p:sp>
      <p:sp>
        <p:nvSpPr>
          <p:cNvPr id="4" name="Text 2"/>
          <p:cNvSpPr/>
          <p:nvPr/>
        </p:nvSpPr>
        <p:spPr>
          <a:xfrm>
            <a:off x="1066800" y="1823721"/>
            <a:ext cx="4813808"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7707A"/>
                </a:solidFill>
                <a:latin typeface="DM Sans" pitchFamily="34" charset="0"/>
                <a:ea typeface="DM Sans" pitchFamily="34" charset="-122"/>
                <a:cs typeface="DM Sans" pitchFamily="34" charset="-120"/>
              </a:rPr>
              <a:t>Applications</a:t>
            </a:r>
            <a:endParaRPr lang="en-US" sz="2200" dirty="0"/>
          </a:p>
        </p:txBody>
      </p:sp>
      <p:sp>
        <p:nvSpPr>
          <p:cNvPr id="5" name="Text 3"/>
          <p:cNvSpPr/>
          <p:nvPr/>
        </p:nvSpPr>
        <p:spPr>
          <a:xfrm>
            <a:off x="1130808" y="2260600"/>
            <a:ext cx="4742180" cy="2301240"/>
          </a:xfrm>
          <a:prstGeom prst="rect">
            <a:avLst/>
          </a:prstGeom>
          <a:noFill/>
          <a:ln/>
        </p:spPr>
        <p:txBody>
          <a:bodyPr wrap="square" lIns="0" tIns="0" rIns="0" bIns="0" rtlCol="0" anchor="t">
            <a:normAutofit/>
          </a:bodyPr>
          <a:lstStyle/>
          <a:p>
            <a:pPr marL="189992" indent="-189992" algn="l">
              <a:lnSpc>
                <a:spcPts val="2240"/>
              </a:lnSpc>
              <a:buSzPct val="100000"/>
              <a:buChar char="•"/>
            </a:pPr>
            <a:r>
              <a:rPr lang="en-US" sz="1600" dirty="0">
                <a:solidFill>
                  <a:srgbClr val="14213D"/>
                </a:solidFill>
                <a:latin typeface="DM Sans" pitchFamily="34" charset="0"/>
                <a:ea typeface="DM Sans" pitchFamily="34" charset="-122"/>
                <a:cs typeface="DM Sans" pitchFamily="34" charset="-120"/>
              </a:rPr>
              <a:t>Network design: cables, pipes and roads at minimum cost.</a:t>
            </a:r>
            <a:endParaRPr lang="en-US" sz="1600" dirty="0"/>
          </a:p>
          <a:p>
            <a:pPr marL="189992" indent="-189992" algn="l">
              <a:lnSpc>
                <a:spcPts val="2240"/>
              </a:lnSpc>
              <a:buSzPct val="100000"/>
              <a:buChar char="•"/>
            </a:pPr>
            <a:r>
              <a:rPr lang="en-US" sz="1600" dirty="0">
                <a:solidFill>
                  <a:srgbClr val="14213D"/>
                </a:solidFill>
                <a:latin typeface="DM Sans" pitchFamily="34" charset="0"/>
                <a:ea typeface="DM Sans" pitchFamily="34" charset="-122"/>
                <a:cs typeface="DM Sans" pitchFamily="34" charset="-120"/>
              </a:rPr>
              <a:t>Clustering: stop early to get k groups of similar points.</a:t>
            </a:r>
            <a:endParaRPr lang="en-US" sz="1600" dirty="0"/>
          </a:p>
          <a:p>
            <a:pPr marL="189992" indent="-189992" algn="l">
              <a:lnSpc>
                <a:spcPts val="2240"/>
              </a:lnSpc>
              <a:buSzPct val="100000"/>
              <a:buChar char="•"/>
            </a:pPr>
            <a:r>
              <a:rPr lang="en-US" sz="1600" dirty="0">
                <a:solidFill>
                  <a:srgbClr val="14213D"/>
                </a:solidFill>
                <a:latin typeface="DM Sans" pitchFamily="34" charset="0"/>
                <a:ea typeface="DM Sans" pitchFamily="34" charset="-122"/>
                <a:cs typeface="DM Sans" pitchFamily="34" charset="-120"/>
              </a:rPr>
              <a:t>Circuit and wiring layout with the least total wire.</a:t>
            </a:r>
            <a:endParaRPr lang="en-US" sz="1600" dirty="0"/>
          </a:p>
          <a:p>
            <a:pPr marL="189992" indent="-189992" algn="l">
              <a:lnSpc>
                <a:spcPts val="2240"/>
              </a:lnSpc>
              <a:buSzPct val="100000"/>
              <a:buChar char="•"/>
            </a:pPr>
            <a:r>
              <a:rPr lang="en-US" sz="1600" dirty="0">
                <a:solidFill>
                  <a:srgbClr val="14213D"/>
                </a:solidFill>
                <a:latin typeface="DM Sans" pitchFamily="34" charset="0"/>
                <a:ea typeface="DM Sans" pitchFamily="34" charset="-122"/>
                <a:cs typeface="DM Sans" pitchFamily="34" charset="-120"/>
              </a:rPr>
              <a:t>Approximation heuristics for harder problems such as travelling salesman.</a:t>
            </a:r>
            <a:endParaRPr lang="en-US" sz="1600" dirty="0"/>
          </a:p>
        </p:txBody>
      </p:sp>
      <p:sp>
        <p:nvSpPr>
          <p:cNvPr id="6" name="Shape 4"/>
          <p:cNvSpPr/>
          <p:nvPr/>
        </p:nvSpPr>
        <p:spPr>
          <a:xfrm>
            <a:off x="6197600" y="1569721"/>
            <a:ext cx="5181600" cy="3220720"/>
          </a:xfrm>
          <a:prstGeom prst="roundRect">
            <a:avLst>
              <a:gd name="adj" fmla="val 3155"/>
            </a:avLst>
          </a:prstGeom>
          <a:solidFill>
            <a:srgbClr val="FBFBF8"/>
          </a:solidFill>
          <a:ln/>
        </p:spPr>
      </p:sp>
      <p:sp>
        <p:nvSpPr>
          <p:cNvPr id="7" name="Text 5"/>
          <p:cNvSpPr/>
          <p:nvPr/>
        </p:nvSpPr>
        <p:spPr>
          <a:xfrm>
            <a:off x="6451600" y="1823721"/>
            <a:ext cx="4813808"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7707A"/>
                </a:solidFill>
                <a:latin typeface="DM Sans" pitchFamily="34" charset="0"/>
                <a:ea typeface="DM Sans" pitchFamily="34" charset="-122"/>
                <a:cs typeface="DM Sans" pitchFamily="34" charset="-120"/>
              </a:rPr>
              <a:t>Key takeaways</a:t>
            </a:r>
            <a:endParaRPr lang="en-US" sz="2200" dirty="0"/>
          </a:p>
        </p:txBody>
      </p:sp>
      <p:sp>
        <p:nvSpPr>
          <p:cNvPr id="8" name="Text 6"/>
          <p:cNvSpPr/>
          <p:nvPr/>
        </p:nvSpPr>
        <p:spPr>
          <a:xfrm>
            <a:off x="6515608" y="2260600"/>
            <a:ext cx="4742180" cy="2016760"/>
          </a:xfrm>
          <a:prstGeom prst="rect">
            <a:avLst/>
          </a:prstGeom>
          <a:noFill/>
          <a:ln/>
        </p:spPr>
        <p:txBody>
          <a:bodyPr wrap="square" lIns="0" tIns="0" rIns="0" bIns="0" rtlCol="0" anchor="t">
            <a:normAutofit/>
          </a:bodyPr>
          <a:lstStyle/>
          <a:p>
            <a:pPr marL="189992" indent="-189992" algn="l">
              <a:lnSpc>
                <a:spcPts val="2240"/>
              </a:lnSpc>
              <a:buSzPct val="100000"/>
              <a:buChar char="•"/>
            </a:pPr>
            <a:r>
              <a:rPr lang="en-US" sz="1600" dirty="0">
                <a:solidFill>
                  <a:srgbClr val="14213D"/>
                </a:solidFill>
                <a:latin typeface="DM Sans" pitchFamily="34" charset="0"/>
                <a:ea typeface="DM Sans" pitchFamily="34" charset="-122"/>
                <a:cs typeface="DM Sans" pitchFamily="34" charset="-120"/>
              </a:rPr>
              <a:t>Sort the edges, then add each cheapest edge that closes no cycle.</a:t>
            </a:r>
            <a:endParaRPr lang="en-US" sz="1600" dirty="0"/>
          </a:p>
          <a:p>
            <a:pPr marL="189992" indent="-189992" algn="l">
              <a:lnSpc>
                <a:spcPts val="2240"/>
              </a:lnSpc>
              <a:buSzPct val="100000"/>
              <a:buChar char="•"/>
            </a:pPr>
            <a:r>
              <a:rPr lang="en-US" sz="1600" dirty="0">
                <a:solidFill>
                  <a:srgbClr val="14213D"/>
                </a:solidFill>
                <a:latin typeface="DM Sans" pitchFamily="34" charset="0"/>
                <a:ea typeface="DM Sans" pitchFamily="34" charset="-122"/>
                <a:cs typeface="DM Sans" pitchFamily="34" charset="-120"/>
              </a:rPr>
              <a:t>Union-Find makes the cycle check almost constant time.</a:t>
            </a:r>
            <a:endParaRPr lang="en-US" sz="1600" dirty="0"/>
          </a:p>
          <a:p>
            <a:pPr marL="189992" indent="-189992" algn="l">
              <a:lnSpc>
                <a:spcPts val="2240"/>
              </a:lnSpc>
              <a:buSzPct val="100000"/>
              <a:buChar char="•"/>
            </a:pPr>
            <a:r>
              <a:rPr lang="en-US" sz="1600" dirty="0">
                <a:solidFill>
                  <a:srgbClr val="14213D"/>
                </a:solidFill>
                <a:latin typeface="DM Sans" pitchFamily="34" charset="0"/>
                <a:ea typeface="DM Sans" pitchFamily="34" charset="-122"/>
                <a:cs typeface="DM Sans" pitchFamily="34" charset="-120"/>
              </a:rPr>
              <a:t>The result has V − 1 edges and the minimum total weight.</a:t>
            </a:r>
            <a:endParaRPr lang="en-US" sz="1600" dirty="0"/>
          </a:p>
          <a:p>
            <a:pPr marL="189992" indent="-189992" algn="l">
              <a:lnSpc>
                <a:spcPts val="2240"/>
              </a:lnSpc>
              <a:buSzPct val="100000"/>
              <a:buChar char="•"/>
            </a:pPr>
            <a:r>
              <a:rPr lang="en-US" sz="1600" dirty="0">
                <a:solidFill>
                  <a:srgbClr val="14213D"/>
                </a:solidFill>
                <a:latin typeface="DM Sans" pitchFamily="34" charset="0"/>
                <a:ea typeface="DM Sans" pitchFamily="34" charset="-122"/>
                <a:cs typeface="DM Sans" pitchFamily="34" charset="-120"/>
              </a:rPr>
              <a:t>Total running time is O(E log E).</a:t>
            </a:r>
            <a:endParaRPr lang="en-US" sz="1600" dirty="0"/>
          </a:p>
        </p:txBody>
      </p:sp>
    </p:spTree>
  </p:cSld>
  <p:clrMapOvr>
    <a:masterClrMapping/>
  </p:clrMapOvr>
</p:sld>
</file>

<file path=ppt/theme/theme1.xml><?xml version="1.0" encoding="utf-8"?>
<a:theme xmlns:a="http://schemas.openxmlformats.org/drawingml/2006/main" name="Kruskal’s Algorithm">
  <a:themeElements>
    <a:clrScheme name="Kruskal’s Algorithm">
      <a:dk1>
        <a:srgbClr val="14213D"/>
      </a:dk1>
      <a:lt1>
        <a:srgbClr val="FBFBF8"/>
      </a:lt1>
      <a:dk2>
        <a:srgbClr val="4E586C"/>
      </a:dk2>
      <a:lt2>
        <a:srgbClr val="E4E5E5"/>
      </a:lt2>
      <a:accent1>
        <a:srgbClr val="F2A541"/>
      </a:accent1>
      <a:accent2>
        <a:srgbClr val="17707A"/>
      </a:accent2>
      <a:accent3>
        <a:srgbClr val="C9D1E3"/>
      </a:accent3>
      <a:accent4>
        <a:srgbClr val="4A5568"/>
      </a:accent4>
      <a:accent5>
        <a:srgbClr val="9AA0A6"/>
      </a:accent5>
      <a:accent6>
        <a:srgbClr val="707888"/>
      </a:accent6>
      <a:hlink>
        <a:srgbClr val="0563C1"/>
      </a:hlink>
      <a:folHlink>
        <a:srgbClr val="954F72"/>
      </a:folHlink>
    </a:clrScheme>
    <a:fontScheme name="Kruskal’s Algorithm">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1115</Words>
  <Application>Microsoft Office PowerPoint</Application>
  <PresentationFormat>Widescreen</PresentationFormat>
  <Paragraphs>115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DM Sans</vt:lpstr>
      <vt:lpstr>JetBrains Mono</vt:lpstr>
      <vt:lpstr>Kruskal’s Algorithm</vt:lpstr>
      <vt:lpstr>Kruskal’s Algorithm</vt:lpstr>
      <vt:lpstr>What is a minimum spanning tree?</vt:lpstr>
      <vt:lpstr>The algorithm, step by step</vt:lpstr>
      <vt:lpstr>Union-Find: spotting cycles fast</vt:lpstr>
      <vt:lpstr>Worked example</vt:lpstr>
      <vt:lpstr>Complexity and correctness</vt:lpstr>
      <vt:lpstr>Where it is used, and what to remember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Kruskal’s Algorithm</dc:title>
  <dc:subject/>
  <dc:creator>OMEN</dc:creator>
  <cp:lastModifiedBy>Parijaat Bangale</cp:lastModifiedBy>
  <cp:revision>1</cp:revision>
  <dcterms:created xsi:type="dcterms:W3CDTF">2026-10-19T09:11:43Z</dcterms:created>
  <dcterms:modified xsi:type="dcterms:W3CDTF">2026-10-19T09:22:02Z</dcterms:modified>
</cp:coreProperties>
</file>